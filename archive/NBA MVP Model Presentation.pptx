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9" r:id="rId4"/>
    <p:sldId id="262"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98"/>
    <p:restoredTop sz="94611"/>
  </p:normalViewPr>
  <p:slideViewPr>
    <p:cSldViewPr snapToGrid="0">
      <p:cViewPr varScale="1">
        <p:scale>
          <a:sx n="143" d="100"/>
          <a:sy n="143" d="100"/>
        </p:scale>
        <p:origin x="248"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1CB787-6D59-8A48-B853-86BC077C612D}" type="datetimeFigureOut">
              <a:rPr lang="en-US" smtClean="0"/>
              <a:t>12/3/25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A72D18-7148-9B4A-964A-5C9E455E7E4C}" type="slidenum">
              <a:rPr lang="en-US" smtClean="0"/>
              <a:t>‹#›</a:t>
            </a:fld>
            <a:endParaRPr lang="en-US" dirty="0"/>
          </a:p>
        </p:txBody>
      </p:sp>
    </p:spTree>
    <p:extLst>
      <p:ext uri="{BB962C8B-B14F-4D97-AF65-F5344CB8AC3E}">
        <p14:creationId xmlns:p14="http://schemas.microsoft.com/office/powerpoint/2010/main" val="3424292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A72D18-7148-9B4A-964A-5C9E455E7E4C}" type="slidenum">
              <a:rPr lang="en-US" smtClean="0"/>
              <a:t>1</a:t>
            </a:fld>
            <a:endParaRPr lang="en-US" dirty="0"/>
          </a:p>
        </p:txBody>
      </p:sp>
    </p:spTree>
    <p:extLst>
      <p:ext uri="{BB962C8B-B14F-4D97-AF65-F5344CB8AC3E}">
        <p14:creationId xmlns:p14="http://schemas.microsoft.com/office/powerpoint/2010/main" val="2050182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A72D18-7148-9B4A-964A-5C9E455E7E4C}" type="slidenum">
              <a:rPr lang="en-US" smtClean="0"/>
              <a:t>2</a:t>
            </a:fld>
            <a:endParaRPr lang="en-US" dirty="0"/>
          </a:p>
        </p:txBody>
      </p:sp>
    </p:spTree>
    <p:extLst>
      <p:ext uri="{BB962C8B-B14F-4D97-AF65-F5344CB8AC3E}">
        <p14:creationId xmlns:p14="http://schemas.microsoft.com/office/powerpoint/2010/main" val="571742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A72D18-7148-9B4A-964A-5C9E455E7E4C}" type="slidenum">
              <a:rPr lang="en-US" smtClean="0"/>
              <a:t>3</a:t>
            </a:fld>
            <a:endParaRPr lang="en-US" dirty="0"/>
          </a:p>
        </p:txBody>
      </p:sp>
    </p:spTree>
    <p:extLst>
      <p:ext uri="{BB962C8B-B14F-4D97-AF65-F5344CB8AC3E}">
        <p14:creationId xmlns:p14="http://schemas.microsoft.com/office/powerpoint/2010/main" val="3834965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A72D18-7148-9B4A-964A-5C9E455E7E4C}" type="slidenum">
              <a:rPr lang="en-US" smtClean="0"/>
              <a:t>4</a:t>
            </a:fld>
            <a:endParaRPr lang="en-US" dirty="0"/>
          </a:p>
        </p:txBody>
      </p:sp>
    </p:spTree>
    <p:extLst>
      <p:ext uri="{BB962C8B-B14F-4D97-AF65-F5344CB8AC3E}">
        <p14:creationId xmlns:p14="http://schemas.microsoft.com/office/powerpoint/2010/main" val="1473674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9B47A-B582-B75F-D08D-4058CE20A9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3AAFB2-5655-CD60-8725-FFFB1A2914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69A91F-A365-C26C-9857-2408F446A87E}"/>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5" name="Footer Placeholder 4">
            <a:extLst>
              <a:ext uri="{FF2B5EF4-FFF2-40B4-BE49-F238E27FC236}">
                <a16:creationId xmlns:a16="http://schemas.microsoft.com/office/drawing/2014/main" id="{6FD2C92A-0F0A-FE44-125D-E5A3FF2732A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25CBBD-523A-CD89-C380-B62819FF9F08}"/>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1281040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6379A-98BC-23E1-C759-BD72F7217A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682896-7C18-C0AB-90E0-3959DE96A3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43F677-E3F5-366C-9959-86FEF0B1566F}"/>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5" name="Footer Placeholder 4">
            <a:extLst>
              <a:ext uri="{FF2B5EF4-FFF2-40B4-BE49-F238E27FC236}">
                <a16:creationId xmlns:a16="http://schemas.microsoft.com/office/drawing/2014/main" id="{2B9B33EF-2A91-49E7-7337-A1CB646E0CE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58BCAA-3F49-BD01-752D-E6830B65C751}"/>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675701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A81E-67EF-5544-455D-BD75ECF377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ACA854-04EE-716C-3960-390F77721A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4E6DC6-82B8-AAE4-D475-AC5D2916C49A}"/>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5" name="Footer Placeholder 4">
            <a:extLst>
              <a:ext uri="{FF2B5EF4-FFF2-40B4-BE49-F238E27FC236}">
                <a16:creationId xmlns:a16="http://schemas.microsoft.com/office/drawing/2014/main" id="{10A729C4-114A-2686-FF53-343DDB9390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6C872-4B5A-41E4-F1F3-DE620BBDF16E}"/>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246628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CF00C-5372-86A7-E4AD-3BA46B3960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3B500E-EA57-C0B6-BD4D-0AA7751830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459B9A-0CF9-E02E-7A1C-DC6C82D029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C1DE77-7D77-4C05-22E1-EA02D024FF34}"/>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6" name="Footer Placeholder 5">
            <a:extLst>
              <a:ext uri="{FF2B5EF4-FFF2-40B4-BE49-F238E27FC236}">
                <a16:creationId xmlns:a16="http://schemas.microsoft.com/office/drawing/2014/main" id="{C202045E-B602-D29A-CA34-867B3D485BB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4402FC7-1D5B-E007-537B-45359757A19B}"/>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3324290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0A1F9-CA5B-6ABB-55AA-581DB7B1D4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5CA364-D4EB-3671-EDBF-4C058B3806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E7FC01-1E9F-A783-C7FF-CD074E5A8B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7B3B2E-E8F5-2F8B-B788-26D4531AA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C92F2C-61A3-B8C8-875C-FCC9211CC6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3D395F-F1FD-496B-8FB2-729872079FC1}"/>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8" name="Footer Placeholder 7">
            <a:extLst>
              <a:ext uri="{FF2B5EF4-FFF2-40B4-BE49-F238E27FC236}">
                <a16:creationId xmlns:a16="http://schemas.microsoft.com/office/drawing/2014/main" id="{269D4F24-3A4A-1A40-A27A-79E777F62E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6774F8A-F97F-D85F-6A9B-FFF235E5FF4A}"/>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1284908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072F-BDE3-98F0-BF2D-A6AAC1D988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F03EE1-F14F-9B33-309D-93A8F0D5FFD6}"/>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4" name="Footer Placeholder 3">
            <a:extLst>
              <a:ext uri="{FF2B5EF4-FFF2-40B4-BE49-F238E27FC236}">
                <a16:creationId xmlns:a16="http://schemas.microsoft.com/office/drawing/2014/main" id="{B635A3BB-BA8C-0BE0-640B-E9EBEE0A524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FF222A9-E584-6447-12D7-4AFFDAAA9543}"/>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193343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2BEAED-B14E-89DF-D98C-3E56966316D4}"/>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3" name="Footer Placeholder 2">
            <a:extLst>
              <a:ext uri="{FF2B5EF4-FFF2-40B4-BE49-F238E27FC236}">
                <a16:creationId xmlns:a16="http://schemas.microsoft.com/office/drawing/2014/main" id="{30C6F300-7C96-8261-EB65-FE2D89BC96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8483B3E-F3B4-F461-BA45-A2392F670768}"/>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893435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A0C02-A5A5-74CE-C5D1-892CAE419E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613291-52A1-2577-73E7-D248173E4E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01F871-C5F4-160D-2CEE-8011C4607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406289-D12B-D322-916C-2DA660C912A7}"/>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6" name="Footer Placeholder 5">
            <a:extLst>
              <a:ext uri="{FF2B5EF4-FFF2-40B4-BE49-F238E27FC236}">
                <a16:creationId xmlns:a16="http://schemas.microsoft.com/office/drawing/2014/main" id="{9F9470D2-F2A8-A0DC-EA0D-15DBD7A2D69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55989FC-3EAB-0B58-9CFF-110056800F11}"/>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472933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9B88-313B-839D-FB66-0C4F2D8596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463C33-21D5-DD4D-96DA-F123A9CB05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73026F9-D287-E165-3DEA-600F6F4185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53D936-8C3C-E12A-F062-320BB540AF5C}"/>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6" name="Footer Placeholder 5">
            <a:extLst>
              <a:ext uri="{FF2B5EF4-FFF2-40B4-BE49-F238E27FC236}">
                <a16:creationId xmlns:a16="http://schemas.microsoft.com/office/drawing/2014/main" id="{F6E37968-96B4-3F65-C7E6-B072E4B67F0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CCD5558-3B3B-8CB1-C0CD-86BB115F0D1D}"/>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2951450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BDC29-3555-B353-6AD3-B9E64FBC40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43E45C-4A44-F9D0-83EB-8F535369F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384E93-6CD2-EA88-FD06-9A1F4CEF967F}"/>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5" name="Footer Placeholder 4">
            <a:extLst>
              <a:ext uri="{FF2B5EF4-FFF2-40B4-BE49-F238E27FC236}">
                <a16:creationId xmlns:a16="http://schemas.microsoft.com/office/drawing/2014/main" id="{B5FB96C6-A4A7-6E74-EF71-4F4A62887E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5A44D0-4CF8-1494-67CF-77BA83BCADB0}"/>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25916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4F8E00-9130-D941-B485-66F901F955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91AE3A-D8E4-72AD-C187-BC17E2DDF6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7B6D8C-263F-6216-E3F9-68B99CCFDCDD}"/>
              </a:ext>
            </a:extLst>
          </p:cNvPr>
          <p:cNvSpPr>
            <a:spLocks noGrp="1"/>
          </p:cNvSpPr>
          <p:nvPr>
            <p:ph type="dt" sz="half" idx="10"/>
          </p:nvPr>
        </p:nvSpPr>
        <p:spPr/>
        <p:txBody>
          <a:bodyPr/>
          <a:lstStyle/>
          <a:p>
            <a:fld id="{EA8C2DEC-9858-B744-8EE5-381602684319}" type="datetimeFigureOut">
              <a:rPr lang="en-US" smtClean="0"/>
              <a:t>12/3/25</a:t>
            </a:fld>
            <a:endParaRPr lang="en-US" dirty="0"/>
          </a:p>
        </p:txBody>
      </p:sp>
      <p:sp>
        <p:nvSpPr>
          <p:cNvPr id="5" name="Footer Placeholder 4">
            <a:extLst>
              <a:ext uri="{FF2B5EF4-FFF2-40B4-BE49-F238E27FC236}">
                <a16:creationId xmlns:a16="http://schemas.microsoft.com/office/drawing/2014/main" id="{A6952B15-EE1E-15CA-3E83-461E4D03C6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CBCC0A9-A99F-DB7D-1216-2F6B80C49F3A}"/>
              </a:ext>
            </a:extLst>
          </p:cNvPr>
          <p:cNvSpPr>
            <a:spLocks noGrp="1"/>
          </p:cNvSpPr>
          <p:nvPr>
            <p:ph type="sldNum" sz="quarter" idx="12"/>
          </p:nvPr>
        </p:nvSpPr>
        <p:spPr/>
        <p:txBody>
          <a:bodyPr/>
          <a:lstStyle/>
          <a:p>
            <a:fld id="{FAF6DD7A-B9CC-C84D-BD7E-5C99BEA4685F}" type="slidenum">
              <a:rPr lang="en-US" smtClean="0"/>
              <a:t>‹#›</a:t>
            </a:fld>
            <a:endParaRPr lang="en-US" dirty="0"/>
          </a:p>
        </p:txBody>
      </p:sp>
    </p:spTree>
    <p:extLst>
      <p:ext uri="{BB962C8B-B14F-4D97-AF65-F5344CB8AC3E}">
        <p14:creationId xmlns:p14="http://schemas.microsoft.com/office/powerpoint/2010/main" val="770020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BE7367-5C02-A468-8495-65660157A1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F380236-9CAC-7776-ED04-B587A84036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1C2BDF2-7491-34BA-F43A-794148954B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2">
                    <a:lumMod val="50000"/>
                    <a:lumOff val="50000"/>
                  </a:schemeClr>
                </a:solidFill>
              </a:defRPr>
            </a:lvl1pPr>
          </a:lstStyle>
          <a:p>
            <a:fld id="{EA8C2DEC-9858-B744-8EE5-381602684319}" type="datetimeFigureOut">
              <a:rPr lang="en-US" smtClean="0"/>
              <a:pPr/>
              <a:t>12/3/25</a:t>
            </a:fld>
            <a:endParaRPr lang="en-US" dirty="0"/>
          </a:p>
        </p:txBody>
      </p:sp>
      <p:sp>
        <p:nvSpPr>
          <p:cNvPr id="5" name="Footer Placeholder 4">
            <a:extLst>
              <a:ext uri="{FF2B5EF4-FFF2-40B4-BE49-F238E27FC236}">
                <a16:creationId xmlns:a16="http://schemas.microsoft.com/office/drawing/2014/main" id="{A574A5E9-2D00-D277-57BE-2320EC1DA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2">
                    <a:lumMod val="50000"/>
                    <a:lumOff val="50000"/>
                  </a:schemeClr>
                </a:solidFill>
              </a:defRPr>
            </a:lvl1pPr>
          </a:lstStyle>
          <a:p>
            <a:r>
              <a:rPr lang="en-US" dirty="0"/>
              <a:t>FAS Technical Assessment</a:t>
            </a:r>
          </a:p>
        </p:txBody>
      </p:sp>
      <p:sp>
        <p:nvSpPr>
          <p:cNvPr id="6" name="Slide Number Placeholder 5">
            <a:extLst>
              <a:ext uri="{FF2B5EF4-FFF2-40B4-BE49-F238E27FC236}">
                <a16:creationId xmlns:a16="http://schemas.microsoft.com/office/drawing/2014/main" id="{09446677-8D90-B819-8728-D19D9E3467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2">
                    <a:lumMod val="50000"/>
                    <a:lumOff val="50000"/>
                  </a:schemeClr>
                </a:solidFill>
              </a:defRPr>
            </a:lvl1pPr>
          </a:lstStyle>
          <a:p>
            <a:fld id="{FAF6DD7A-B9CC-C84D-BD7E-5C99BEA4685F}" type="slidenum">
              <a:rPr lang="en-US" smtClean="0"/>
              <a:pPr/>
              <a:t>‹#›</a:t>
            </a:fld>
            <a:endParaRPr lang="en-US" dirty="0"/>
          </a:p>
        </p:txBody>
      </p:sp>
    </p:spTree>
    <p:extLst>
      <p:ext uri="{BB962C8B-B14F-4D97-AF65-F5344CB8AC3E}">
        <p14:creationId xmlns:p14="http://schemas.microsoft.com/office/powerpoint/2010/main" val="3891117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lumMod val="90000"/>
              <a:lumOff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lumMod val="90000"/>
              <a:lumOff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2">
              <a:lumMod val="90000"/>
              <a:lumOff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2">
              <a:lumMod val="90000"/>
              <a:lumOff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2">
              <a:lumMod val="90000"/>
              <a:lumOff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016D1F-5CA1-6FA0-40F8-F2484159BDF2}"/>
              </a:ext>
            </a:extLst>
          </p:cNvPr>
          <p:cNvSpPr>
            <a:spLocks noGrp="1"/>
          </p:cNvSpPr>
          <p:nvPr>
            <p:ph type="ctrTitle"/>
          </p:nvPr>
        </p:nvSpPr>
        <p:spPr>
          <a:xfrm>
            <a:off x="643468" y="643467"/>
            <a:ext cx="4620584" cy="4567137"/>
          </a:xfrm>
        </p:spPr>
        <p:txBody>
          <a:bodyPr>
            <a:normAutofit/>
          </a:bodyPr>
          <a:lstStyle/>
          <a:p>
            <a:pPr algn="l"/>
            <a:r>
              <a:rPr lang="en-US" sz="4400" dirty="0"/>
              <a:t>NBA MVP Prediction Model</a:t>
            </a:r>
          </a:p>
        </p:txBody>
      </p:sp>
      <p:sp>
        <p:nvSpPr>
          <p:cNvPr id="3" name="Subtitle 2">
            <a:extLst>
              <a:ext uri="{FF2B5EF4-FFF2-40B4-BE49-F238E27FC236}">
                <a16:creationId xmlns:a16="http://schemas.microsoft.com/office/drawing/2014/main" id="{EDC87BAB-91CF-AD25-50D6-69F869B7CC8E}"/>
              </a:ext>
            </a:extLst>
          </p:cNvPr>
          <p:cNvSpPr>
            <a:spLocks noGrp="1"/>
          </p:cNvSpPr>
          <p:nvPr>
            <p:ph type="subTitle" idx="1"/>
          </p:nvPr>
        </p:nvSpPr>
        <p:spPr>
          <a:xfrm>
            <a:off x="643467" y="5277684"/>
            <a:ext cx="4620584" cy="775494"/>
          </a:xfrm>
        </p:spPr>
        <p:txBody>
          <a:bodyPr>
            <a:normAutofit/>
          </a:bodyPr>
          <a:lstStyle/>
          <a:p>
            <a:pPr algn="l"/>
            <a:r>
              <a:rPr lang="en-US" sz="2000" dirty="0"/>
              <a:t>Isaac Marr</a:t>
            </a:r>
          </a:p>
          <a:p>
            <a:pPr algn="l"/>
            <a:r>
              <a:rPr lang="en-US" sz="2000" dirty="0"/>
              <a:t>2025 FAS Technical Challenge</a:t>
            </a:r>
          </a:p>
        </p:txBody>
      </p:sp>
      <p:pic>
        <p:nvPicPr>
          <p:cNvPr id="5" name="Picture 4" descr="A basketball dropping into a basketball hoop">
            <a:extLst>
              <a:ext uri="{FF2B5EF4-FFF2-40B4-BE49-F238E27FC236}">
                <a16:creationId xmlns:a16="http://schemas.microsoft.com/office/drawing/2014/main" id="{5C11880D-A166-1C4E-27F5-C3ED379F103F}"/>
              </a:ext>
            </a:extLst>
          </p:cNvPr>
          <p:cNvPicPr>
            <a:picLocks noChangeAspect="1"/>
          </p:cNvPicPr>
          <p:nvPr/>
        </p:nvPicPr>
        <p:blipFill>
          <a:blip r:embed="rId3"/>
          <a:srcRect l="20982" r="2098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318798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22CA66-4C54-1B73-5410-EC457CDE1211}"/>
              </a:ext>
            </a:extLst>
          </p:cNvPr>
          <p:cNvSpPr>
            <a:spLocks noGrp="1"/>
          </p:cNvSpPr>
          <p:nvPr>
            <p:ph type="title"/>
          </p:nvPr>
        </p:nvSpPr>
        <p:spPr>
          <a:xfrm>
            <a:off x="838201" y="643467"/>
            <a:ext cx="3888526" cy="1800526"/>
          </a:xfrm>
        </p:spPr>
        <p:txBody>
          <a:bodyPr>
            <a:normAutofit/>
          </a:bodyPr>
          <a:lstStyle/>
          <a:p>
            <a:r>
              <a:rPr lang="en-US" sz="4100" dirty="0"/>
              <a:t>Data Acquisition</a:t>
            </a:r>
          </a:p>
        </p:txBody>
      </p:sp>
      <p:sp>
        <p:nvSpPr>
          <p:cNvPr id="3" name="Content Placeholder 2">
            <a:extLst>
              <a:ext uri="{FF2B5EF4-FFF2-40B4-BE49-F238E27FC236}">
                <a16:creationId xmlns:a16="http://schemas.microsoft.com/office/drawing/2014/main" id="{84A894A5-6C96-F80A-E4C6-8008832D921C}"/>
              </a:ext>
            </a:extLst>
          </p:cNvPr>
          <p:cNvSpPr>
            <a:spLocks noGrp="1"/>
          </p:cNvSpPr>
          <p:nvPr>
            <p:ph idx="1"/>
          </p:nvPr>
        </p:nvSpPr>
        <p:spPr>
          <a:xfrm>
            <a:off x="838201" y="2623381"/>
            <a:ext cx="3888528" cy="3553581"/>
          </a:xfrm>
        </p:spPr>
        <p:txBody>
          <a:bodyPr>
            <a:normAutofit/>
          </a:bodyPr>
          <a:lstStyle/>
          <a:p>
            <a:r>
              <a:rPr lang="en-US" sz="1300" dirty="0"/>
              <a:t>Collected both traditional and advanced statistics from the NBA API from the 2000-01 season to the 2024-25 season.</a:t>
            </a:r>
          </a:p>
          <a:p>
            <a:r>
              <a:rPr lang="en-US" sz="1300" dirty="0"/>
              <a:t>Manually exported MVP voting data from Basketball Reference to use as the response variable. (See an example to the right)</a:t>
            </a:r>
          </a:p>
          <a:p>
            <a:pPr lvl="1"/>
            <a:r>
              <a:rPr lang="en-US" sz="1300" dirty="0"/>
              <a:t>The variable “MVP_SHARE” is the player’s MVP voting points divided by the total possible points. For example, Steph Curry’s 2016 unanimous MVP gave him a value of 1.0.</a:t>
            </a:r>
          </a:p>
          <a:p>
            <a:pPr lvl="1"/>
            <a:r>
              <a:rPr lang="en-US" sz="1300" dirty="0"/>
              <a:t>This provides a more robust set of MVP candidates for my model.</a:t>
            </a:r>
          </a:p>
          <a:p>
            <a:r>
              <a:rPr lang="en-US" sz="1300" dirty="0"/>
              <a:t>Merged the response variable into the NBA data before cleaning and standardizing.</a:t>
            </a:r>
          </a:p>
          <a:p>
            <a:r>
              <a:rPr lang="en-US" sz="1300" dirty="0"/>
              <a:t>Saved the data to a csv for reproducibility.</a:t>
            </a:r>
          </a:p>
        </p:txBody>
      </p:sp>
      <p:pic>
        <p:nvPicPr>
          <p:cNvPr id="5" name="Picture 4">
            <a:extLst>
              <a:ext uri="{FF2B5EF4-FFF2-40B4-BE49-F238E27FC236}">
                <a16:creationId xmlns:a16="http://schemas.microsoft.com/office/drawing/2014/main" id="{1DE042D1-1832-2E36-8D11-4B7E6CA87892}"/>
              </a:ext>
            </a:extLst>
          </p:cNvPr>
          <p:cNvPicPr>
            <a:picLocks noChangeAspect="1"/>
          </p:cNvPicPr>
          <p:nvPr/>
        </p:nvPicPr>
        <p:blipFill>
          <a:blip r:embed="rId3"/>
          <a:stretch>
            <a:fillRect/>
          </a:stretch>
        </p:blipFill>
        <p:spPr>
          <a:xfrm>
            <a:off x="6017658" y="2553007"/>
            <a:ext cx="5962785" cy="2236043"/>
          </a:xfrm>
          <a:prstGeom prst="rect">
            <a:avLst/>
          </a:prstGeom>
        </p:spPr>
      </p:pic>
    </p:spTree>
    <p:extLst>
      <p:ext uri="{BB962C8B-B14F-4D97-AF65-F5344CB8AC3E}">
        <p14:creationId xmlns:p14="http://schemas.microsoft.com/office/powerpoint/2010/main" val="1775144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EA51A1-5390-0AF5-B02F-114228764E89}"/>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B2AE977-8873-8529-4751-80E177817CB5}"/>
              </a:ext>
            </a:extLst>
          </p:cNvPr>
          <p:cNvSpPr>
            <a:spLocks noGrp="1"/>
          </p:cNvSpPr>
          <p:nvPr>
            <p:ph type="title"/>
          </p:nvPr>
        </p:nvSpPr>
        <p:spPr>
          <a:xfrm>
            <a:off x="838201" y="643467"/>
            <a:ext cx="3888526" cy="1800526"/>
          </a:xfrm>
        </p:spPr>
        <p:txBody>
          <a:bodyPr>
            <a:normAutofit/>
          </a:bodyPr>
          <a:lstStyle/>
          <a:p>
            <a:r>
              <a:rPr lang="en-US" sz="4100" dirty="0"/>
              <a:t>Feature Engineering &amp; Selection</a:t>
            </a:r>
          </a:p>
        </p:txBody>
      </p:sp>
      <p:sp>
        <p:nvSpPr>
          <p:cNvPr id="3" name="Content Placeholder 2">
            <a:extLst>
              <a:ext uri="{FF2B5EF4-FFF2-40B4-BE49-F238E27FC236}">
                <a16:creationId xmlns:a16="http://schemas.microsoft.com/office/drawing/2014/main" id="{F3189246-E7B1-4E3E-0544-7473C7712850}"/>
              </a:ext>
            </a:extLst>
          </p:cNvPr>
          <p:cNvSpPr>
            <a:spLocks noGrp="1"/>
          </p:cNvSpPr>
          <p:nvPr>
            <p:ph idx="1"/>
          </p:nvPr>
        </p:nvSpPr>
        <p:spPr>
          <a:xfrm>
            <a:off x="838201" y="2623381"/>
            <a:ext cx="3888528" cy="3553581"/>
          </a:xfrm>
        </p:spPr>
        <p:txBody>
          <a:bodyPr>
            <a:noAutofit/>
          </a:bodyPr>
          <a:lstStyle/>
          <a:p>
            <a:r>
              <a:rPr lang="en-US" sz="1300" dirty="0"/>
              <a:t>In addition to the NBA API data, I calculated a sum of points, rebounds, and assists to get a better sense of overall player box score impact. I also calculated a Z score for all quantitative features to adjust for era.</a:t>
            </a:r>
          </a:p>
          <a:p>
            <a:r>
              <a:rPr lang="en-US" sz="1300" dirty="0"/>
              <a:t>I ran a random forest model with all box score, advanced, and Z-score stats. I then selected the features with importance above 1% for my final model. I decided to use Z-scores only and dropped the non-Z score features from my model.</a:t>
            </a:r>
          </a:p>
          <a:p>
            <a:r>
              <a:rPr lang="en-US" sz="1300" dirty="0"/>
              <a:t>You can see my final list to the right. This selection passes the eye test. Box score stats are very important, as is team win percentage. Free throw shooting and true shooting show that getting to the line and taking efficient shots is weighed heavily. Finally, more advanced stats like Net Rating, Defensive Rating, and PIE provide a good picture of overall player value.</a:t>
            </a:r>
          </a:p>
        </p:txBody>
      </p:sp>
      <p:pic>
        <p:nvPicPr>
          <p:cNvPr id="6" name="Picture 5">
            <a:extLst>
              <a:ext uri="{FF2B5EF4-FFF2-40B4-BE49-F238E27FC236}">
                <a16:creationId xmlns:a16="http://schemas.microsoft.com/office/drawing/2014/main" id="{215A2E1E-D6FC-E3EF-A02F-2C5321CF12CD}"/>
              </a:ext>
            </a:extLst>
          </p:cNvPr>
          <p:cNvPicPr>
            <a:picLocks noChangeAspect="1"/>
          </p:cNvPicPr>
          <p:nvPr/>
        </p:nvPicPr>
        <p:blipFill>
          <a:blip r:embed="rId3"/>
          <a:stretch>
            <a:fillRect/>
          </a:stretch>
        </p:blipFill>
        <p:spPr>
          <a:xfrm>
            <a:off x="5971426" y="2084186"/>
            <a:ext cx="5962785" cy="3413694"/>
          </a:xfrm>
          <a:prstGeom prst="rect">
            <a:avLst/>
          </a:prstGeom>
        </p:spPr>
      </p:pic>
    </p:spTree>
    <p:extLst>
      <p:ext uri="{BB962C8B-B14F-4D97-AF65-F5344CB8AC3E}">
        <p14:creationId xmlns:p14="http://schemas.microsoft.com/office/powerpoint/2010/main" val="2953676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5F03A7-8E1D-3DF0-DF52-CB76BFC065FE}"/>
            </a:ext>
          </a:extLst>
        </p:cNvPr>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Freeform: Shape 69">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74503DD-5C4F-8367-4297-ABAEFEF8148B}"/>
              </a:ext>
            </a:extLst>
          </p:cNvPr>
          <p:cNvSpPr>
            <a:spLocks noGrp="1"/>
          </p:cNvSpPr>
          <p:nvPr>
            <p:ph type="title"/>
          </p:nvPr>
        </p:nvSpPr>
        <p:spPr>
          <a:xfrm>
            <a:off x="838201" y="643467"/>
            <a:ext cx="3888526" cy="1800526"/>
          </a:xfrm>
        </p:spPr>
        <p:txBody>
          <a:bodyPr>
            <a:normAutofit/>
          </a:bodyPr>
          <a:lstStyle/>
          <a:p>
            <a:r>
              <a:rPr lang="en-US" sz="4100" dirty="0"/>
              <a:t>Model Performance &amp; Takeaways</a:t>
            </a:r>
          </a:p>
        </p:txBody>
      </p:sp>
      <p:sp>
        <p:nvSpPr>
          <p:cNvPr id="3" name="Content Placeholder 2">
            <a:extLst>
              <a:ext uri="{FF2B5EF4-FFF2-40B4-BE49-F238E27FC236}">
                <a16:creationId xmlns:a16="http://schemas.microsoft.com/office/drawing/2014/main" id="{1C597A20-9B83-C629-A424-81DDF58A70AD}"/>
              </a:ext>
            </a:extLst>
          </p:cNvPr>
          <p:cNvSpPr>
            <a:spLocks noGrp="1"/>
          </p:cNvSpPr>
          <p:nvPr>
            <p:ph idx="1"/>
          </p:nvPr>
        </p:nvSpPr>
        <p:spPr>
          <a:xfrm>
            <a:off x="838201" y="2623381"/>
            <a:ext cx="3888528" cy="3553581"/>
          </a:xfrm>
        </p:spPr>
        <p:txBody>
          <a:bodyPr>
            <a:normAutofit/>
          </a:bodyPr>
          <a:lstStyle/>
          <a:p>
            <a:r>
              <a:rPr lang="en-US" sz="1300" dirty="0"/>
              <a:t>As you can see in top table on the right, the model performs very well in distinguishing non-MVP contenders from players who should receive votes, explaining 66-70% of the variance.</a:t>
            </a:r>
          </a:p>
          <a:p>
            <a:r>
              <a:rPr lang="en-US" sz="1300" dirty="0"/>
              <a:t>The model starts to falter as it tries to separate the strong contenders from the fringe contenders. </a:t>
            </a:r>
          </a:p>
          <a:p>
            <a:pPr lvl="1"/>
            <a:r>
              <a:rPr lang="en-US" sz="1300" dirty="0"/>
              <a:t>This is due in part to the very small sample size, the model did not train on very many strong contenders at all.</a:t>
            </a:r>
          </a:p>
          <a:p>
            <a:pPr lvl="1"/>
            <a:r>
              <a:rPr lang="en-US" sz="1300" dirty="0"/>
              <a:t>Also, the MVP is partially a narrative award, and the voters may factor in narrative more when choosing between the top 2-3 candidates.</a:t>
            </a:r>
          </a:p>
          <a:p>
            <a:r>
              <a:rPr lang="en-US" sz="1300" dirty="0"/>
              <a:t>Despite this, the output of the model looks accurate. Jokic, SGA, Luka, and Giannis are true top contenders, while the dark horse candidates are all reasonable.</a:t>
            </a:r>
          </a:p>
          <a:p>
            <a:pPr marL="457200" lvl="1" indent="0">
              <a:buNone/>
            </a:pPr>
            <a:endParaRPr lang="en-US" sz="1300" dirty="0"/>
          </a:p>
          <a:p>
            <a:pPr lvl="1"/>
            <a:endParaRPr lang="en-US" sz="1300" dirty="0"/>
          </a:p>
        </p:txBody>
      </p:sp>
      <p:pic>
        <p:nvPicPr>
          <p:cNvPr id="6" name="Picture 5">
            <a:extLst>
              <a:ext uri="{FF2B5EF4-FFF2-40B4-BE49-F238E27FC236}">
                <a16:creationId xmlns:a16="http://schemas.microsoft.com/office/drawing/2014/main" id="{1E846A91-5D66-1A3F-D06F-D629F7573D0B}"/>
              </a:ext>
            </a:extLst>
          </p:cNvPr>
          <p:cNvPicPr>
            <a:picLocks noChangeAspect="1"/>
          </p:cNvPicPr>
          <p:nvPr/>
        </p:nvPicPr>
        <p:blipFill>
          <a:blip r:embed="rId3"/>
          <a:stretch>
            <a:fillRect/>
          </a:stretch>
        </p:blipFill>
        <p:spPr>
          <a:xfrm>
            <a:off x="6183092" y="1722186"/>
            <a:ext cx="5822641" cy="4221414"/>
          </a:xfrm>
          <a:prstGeom prst="rect">
            <a:avLst/>
          </a:prstGeom>
        </p:spPr>
      </p:pic>
    </p:spTree>
    <p:extLst>
      <p:ext uri="{BB962C8B-B14F-4D97-AF65-F5344CB8AC3E}">
        <p14:creationId xmlns:p14="http://schemas.microsoft.com/office/powerpoint/2010/main" val="1355483871"/>
      </p:ext>
    </p:extLst>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439</Words>
  <Application>Microsoft Macintosh PowerPoint</Application>
  <PresentationFormat>Widescreen</PresentationFormat>
  <Paragraphs>24</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Arial</vt:lpstr>
      <vt:lpstr>Calibri</vt:lpstr>
      <vt:lpstr>Calibri Light</vt:lpstr>
      <vt:lpstr>Office Theme</vt:lpstr>
      <vt:lpstr>NBA MVP Prediction Model</vt:lpstr>
      <vt:lpstr>Data Acquisition</vt:lpstr>
      <vt:lpstr>Feature Engineering &amp; Selection</vt:lpstr>
      <vt:lpstr>Model Performance &amp;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Marr, Isaac Andrew (iam8bu)</dc:creator>
  <cp:lastModifiedBy>Marr, Isaac Andrew (iam8bu)</cp:lastModifiedBy>
  <cp:revision>3</cp:revision>
  <dcterms:created xsi:type="dcterms:W3CDTF">2025-12-03T17:26:56Z</dcterms:created>
  <dcterms:modified xsi:type="dcterms:W3CDTF">2025-12-03T21:36:48Z</dcterms:modified>
</cp:coreProperties>
</file>